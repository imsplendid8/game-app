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3A2C5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840480"/>
            <a:ext cx="4572000" cy="4572000"/>
          </a:xfrm>
          <a:prstGeom prst="ellipse">
            <a:avLst/>
          </a:prstGeom>
          <a:solidFill>
            <a:srgbClr val="3A2C5A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920240"/>
            <a:ext cx="2834640" cy="283464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user/game-app/public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029968"/>
            <a:ext cx="2615184" cy="2615184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4069080" y="1463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CASUAL OFFICE COMEDY · MOBILE WEB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023360" y="17830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신입사원 김넵 키우기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069080" y="272491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4D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회사어를 해석하고, 무사히 수습을 통과하라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069080" y="318211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AE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메신저를 열 때마다 작은 재난이 튀어나오는 선택형 직장 시트콤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069080" y="388620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3A2C5A"/>
          </a:solidFill>
          <a:ln/>
        </p:spPr>
      </p:sp>
      <p:sp>
        <p:nvSpPr>
          <p:cNvPr id="11" name="Text 8"/>
          <p:cNvSpPr/>
          <p:nvPr/>
        </p:nvSpPr>
        <p:spPr>
          <a:xfrm>
            <a:off x="4069080" y="3886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D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5분 · 총 10문제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38862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3A2C5A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0" y="38862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D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무설치 · 무가입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06908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B8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imsplendid8.github.io/game-app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왜 만들었나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회사어는, 생각보다 어렵다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502152" cy="3566160"/>
          </a:xfrm>
          <a:prstGeom prst="roundRect">
            <a:avLst>
              <a:gd name="adj" fmla="val 3133"/>
            </a:avLst>
          </a:prstGeom>
          <a:solidFill>
            <a:srgbClr val="FFE3EE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9536" y="196596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말의 온도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9536" y="2606040"/>
            <a:ext cx="291693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‘시간 되실 때’, ‘편하게’, ‘임팩트 있게’를 문자 그대로 받아들이면 대응 타이밍과 말투를 놓친다.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502152" cy="3566160"/>
          </a:xfrm>
          <a:prstGeom prst="roundRect">
            <a:avLst>
              <a:gd name="adj" fmla="val 3133"/>
            </a:avLst>
          </a:prstGeom>
          <a:solidFill>
            <a:srgbClr val="EFE8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36008" y="196596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7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몰입의 벽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36008" y="2606040"/>
            <a:ext cx="291693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직장 커뮤니케이션 콘텐츠는 설명 위주라, 짧게 몰입하고 반복하기 어렵다.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19872" y="1691640"/>
            <a:ext cx="3502152" cy="3566160"/>
          </a:xfrm>
          <a:prstGeom prst="roundRect">
            <a:avLst>
              <a:gd name="adj" fmla="val 3133"/>
            </a:avLst>
          </a:prstGeom>
          <a:solidFill>
            <a:srgbClr val="E3F2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0" y="196596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B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안전한 연습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0" y="2606040"/>
            <a:ext cx="291693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회사에서 실수하지 않고도 여러 답변의 결과를 안전하게 경험하고 싶다.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553212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8A8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정답 암기가 아니라, ‘상황과 관계에 따라 말의 온도가 달라진다’를 체험하게 하자.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콘셉트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예절 시험이 아니라, 선택형 시트콤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024628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84248"/>
            <a:ext cx="44759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상식 퀴즈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2423160"/>
            <a:ext cx="44759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 설명 → 올바른 답 찾기 → 교훈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37276" y="1783080"/>
            <a:ext cx="914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597396" y="1783080"/>
            <a:ext cx="5024628" cy="1554480"/>
          </a:xfrm>
          <a:prstGeom prst="roundRect">
            <a:avLst>
              <a:gd name="adj" fmla="val 7059"/>
            </a:avLst>
          </a:prstGeom>
          <a:solidFill>
            <a:srgbClr val="FFE3EE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71716" y="1984248"/>
            <a:ext cx="44759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김넵의 방식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71716" y="2423160"/>
            <a:ext cx="44759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3초 훅 → 애매한 회사어 → 서로 다른 유혹 → 짧은 후폭풍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" y="370332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‘정답 / 오답’ 대신 3단계 결과 라벨로 온도를 보여준다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4206240"/>
            <a:ext cx="3502152" cy="1280160"/>
          </a:xfrm>
          <a:prstGeom prst="roundRect">
            <a:avLst>
              <a:gd name="adj" fmla="val 8571"/>
            </a:avLst>
          </a:prstGeom>
          <a:solidFill>
            <a:srgbClr val="E1F5E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4425696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B8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✨ 센스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1248" y="493776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맥락을 읽고 잘 대응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43400" y="4206240"/>
            <a:ext cx="3502152" cy="1280160"/>
          </a:xfrm>
          <a:prstGeom prst="roundRect">
            <a:avLst>
              <a:gd name="adj" fmla="val 8571"/>
            </a:avLst>
          </a:prstGeom>
          <a:solidFill>
            <a:srgbClr val="E3F2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4425696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CB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🙂 무난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17720" y="493776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문제는 없는 선택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19872" y="4206240"/>
            <a:ext cx="3502152" cy="1280160"/>
          </a:xfrm>
          <a:prstGeom prst="roundRect">
            <a:avLst>
              <a:gd name="adj" fmla="val 8571"/>
            </a:avLst>
          </a:prstGeom>
          <a:solidFill>
            <a:srgbClr val="FFF1DD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94192" y="4425696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94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😵 아찔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94192" y="493776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관계·업무에 위험 신호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플레이 방식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판의 코어 루프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2103120"/>
            <a:ext cx="2489454" cy="2194560"/>
          </a:xfrm>
          <a:prstGeom prst="roundRect">
            <a:avLst>
              <a:gd name="adj" fmla="val 5000"/>
            </a:avLst>
          </a:prstGeom>
          <a:solidFill>
            <a:srgbClr val="FFE3EE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5623" y="2377440"/>
            <a:ext cx="512064" cy="512064"/>
          </a:xfrm>
          <a:prstGeom prst="ellipse">
            <a:avLst/>
          </a:prstGeom>
          <a:solidFill>
            <a:srgbClr val="FF6F9C"/>
          </a:solidFill>
          <a:ln/>
        </p:spPr>
      </p:sp>
      <p:sp>
        <p:nvSpPr>
          <p:cNvPr id="6" name="Text 4"/>
          <p:cNvSpPr/>
          <p:nvPr/>
        </p:nvSpPr>
        <p:spPr>
          <a:xfrm>
            <a:off x="1555623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04088" y="3017520"/>
            <a:ext cx="22151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도착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21602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5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선배·리더의 애매한 회사어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74670" y="2103120"/>
            <a:ext cx="3657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8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22142" y="2103120"/>
            <a:ext cx="2489454" cy="2194560"/>
          </a:xfrm>
          <a:prstGeom prst="roundRect">
            <a:avLst>
              <a:gd name="adj" fmla="val 5000"/>
            </a:avLst>
          </a:prstGeom>
          <a:solidFill>
            <a:srgbClr val="EFE8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10837" y="2377440"/>
            <a:ext cx="512064" cy="512064"/>
          </a:xfrm>
          <a:prstGeom prst="ellipse">
            <a:avLst/>
          </a:prstGeom>
          <a:solidFill>
            <a:srgbClr val="9B7CF6"/>
          </a:solidFill>
          <a:ln/>
        </p:spPr>
      </p:sp>
      <p:sp>
        <p:nvSpPr>
          <p:cNvPr id="12" name="Text 10"/>
          <p:cNvSpPr/>
          <p:nvPr/>
        </p:nvSpPr>
        <p:spPr>
          <a:xfrm>
            <a:off x="4410837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59302" y="3017520"/>
            <a:ext cx="22151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선택지 3개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86734" y="3474720"/>
            <a:ext cx="21602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5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유혹 중 하나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29884" y="2103120"/>
            <a:ext cx="3657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8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77356" y="2103120"/>
            <a:ext cx="2489454" cy="2194560"/>
          </a:xfrm>
          <a:prstGeom prst="roundRect">
            <a:avLst>
              <a:gd name="adj" fmla="val 5000"/>
            </a:avLst>
          </a:prstGeom>
          <a:solidFill>
            <a:srgbClr val="FFE3EE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66051" y="2377440"/>
            <a:ext cx="512064" cy="512064"/>
          </a:xfrm>
          <a:prstGeom prst="ellipse">
            <a:avLst/>
          </a:prstGeom>
          <a:solidFill>
            <a:srgbClr val="5CB8F5"/>
          </a:solidFill>
          <a:ln/>
        </p:spPr>
      </p:sp>
      <p:sp>
        <p:nvSpPr>
          <p:cNvPr id="18" name="Text 16"/>
          <p:cNvSpPr/>
          <p:nvPr/>
        </p:nvSpPr>
        <p:spPr>
          <a:xfrm>
            <a:off x="7266051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14516" y="3017520"/>
            <a:ext cx="22151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후폭풍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41948" y="3474720"/>
            <a:ext cx="21602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5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· 상대 반응 · 팁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85098" y="2103120"/>
            <a:ext cx="3657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8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32570" y="2103120"/>
            <a:ext cx="2489454" cy="2194560"/>
          </a:xfrm>
          <a:prstGeom prst="roundRect">
            <a:avLst>
              <a:gd name="adj" fmla="val 5000"/>
            </a:avLst>
          </a:prstGeom>
          <a:solidFill>
            <a:srgbClr val="EFE8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121265" y="2377440"/>
            <a:ext cx="512064" cy="512064"/>
          </a:xfrm>
          <a:prstGeom prst="ellipse">
            <a:avLst/>
          </a:prstGeom>
          <a:solidFill>
            <a:srgbClr val="24B892"/>
          </a:solidFill>
          <a:ln/>
        </p:spPr>
      </p:sp>
      <p:sp>
        <p:nvSpPr>
          <p:cNvPr id="24" name="Text 22"/>
          <p:cNvSpPr/>
          <p:nvPr/>
        </p:nvSpPr>
        <p:spPr>
          <a:xfrm>
            <a:off x="10121265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69730" y="3017520"/>
            <a:ext cx="22151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능력치 변화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97162" y="3474720"/>
            <a:ext cx="21602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5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스탯이 실시간 반영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493776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숨은 확률·제한 시간 없음 · 같은 선택은 언제나 같은 결과 · 다음 문제 전까진 답을 바꿀 수 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성장 지표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5가지 능력치를 키운다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11055096" cy="786384"/>
          </a:xfrm>
          <a:prstGeom prst="roundRect">
            <a:avLst>
              <a:gd name="adj" fmla="val 13953"/>
            </a:avLst>
          </a:prstGeom>
          <a:solidFill>
            <a:srgbClr val="EFE8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37360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👀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72768" y="1737360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7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눈치력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041648" y="1737360"/>
            <a:ext cx="7397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말의 의도와 분위기를 읽는 힘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633472"/>
            <a:ext cx="11055096" cy="786384"/>
          </a:xfrm>
          <a:prstGeom prst="roundRect">
            <a:avLst>
              <a:gd name="adj" fmla="val 13953"/>
            </a:avLst>
          </a:prstGeom>
          <a:solidFill>
            <a:srgbClr val="E1F5E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2633472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72768" y="2633472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B8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업무력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041648" y="2633472"/>
            <a:ext cx="7397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우선순위를 잡고 결과물을 만드는 힘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529584"/>
            <a:ext cx="11055096" cy="786384"/>
          </a:xfrm>
          <a:prstGeom prst="roundRect">
            <a:avLst>
              <a:gd name="adj" fmla="val 13953"/>
            </a:avLst>
          </a:prstGeom>
          <a:solidFill>
            <a:srgbClr val="FFF1DD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3529584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🫀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72768" y="3529584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4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멘탈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41648" y="3529584"/>
            <a:ext cx="7397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당황하지 않고 버티는 힘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25696"/>
            <a:ext cx="11055096" cy="786384"/>
          </a:xfrm>
          <a:prstGeom prst="roundRect">
            <a:avLst>
              <a:gd name="adj" fmla="val 13953"/>
            </a:avLst>
          </a:prstGeom>
          <a:solidFill>
            <a:srgbClr val="FFE3EE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4425696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🤝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72768" y="4425696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상사 호감도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41648" y="4425696"/>
            <a:ext cx="7397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리더가 느끼는 신뢰와 편안함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321808"/>
            <a:ext cx="11055096" cy="786384"/>
          </a:xfrm>
          <a:prstGeom prst="roundRect">
            <a:avLst>
              <a:gd name="adj" fmla="val 13953"/>
            </a:avLst>
          </a:prstGeom>
          <a:solidFill>
            <a:srgbClr val="E3F2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1248" y="5321808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🏃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72768" y="5321808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B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퇴근 가능성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041648" y="5321808"/>
            <a:ext cx="7397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제시간에 퇴근할 여유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580644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8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50에서 시작 · 항상 0~100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콘텐츠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5일간의 회사 재난, 10개 에피소드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55096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96596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FF6F9C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9659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01368" y="1783080"/>
            <a:ext cx="9592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단톡방 99+ · 네넵넵!의 지뢰찾기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2660904"/>
            <a:ext cx="11055096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86384" y="2843784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9B7CF6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84378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01368" y="2660904"/>
            <a:ext cx="9592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부사장님의 편한 질문 · ‘잠깐 이야기 가능?’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66928" y="3538728"/>
            <a:ext cx="11055096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86384" y="3721608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5CB8F5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7216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01368" y="3538728"/>
            <a:ext cx="9592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판교에 갈 상인가(판교어 해석) · 상사의 3종 세트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66928" y="4416552"/>
            <a:ext cx="11055096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86384" y="4599432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24B892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5994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01368" y="4416552"/>
            <a:ext cx="9592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5분이면 되는 간단 수정 · 옆부서의 둥근 거절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66928" y="5294376"/>
            <a:ext cx="11055096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86384" y="5477256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E8942F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547725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01368" y="5294376"/>
            <a:ext cx="9592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17:47에 도착한 48MB · 수습평가 ‘어땠어요?’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" y="612648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8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2문제 × 5일 · 각 문제 선택지 3개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결과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수습평가, 4개의 엔딩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253228" cy="1874520"/>
          </a:xfrm>
          <a:prstGeom prst="roundRect">
            <a:avLst>
              <a:gd name="adj" fmla="val 5854"/>
            </a:avLst>
          </a:prstGeom>
          <a:solidFill>
            <a:srgbClr val="FFE3EE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286000"/>
            <a:ext cx="868680" cy="868680"/>
          </a:xfrm>
          <a:prstGeom prst="ellipse">
            <a:avLst/>
          </a:prstGeom>
          <a:solidFill>
            <a:srgbClr val="FF6F9C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2286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938528" y="2240280"/>
            <a:ext cx="36073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눈치백단 에이스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38528" y="2743200"/>
            <a:ext cx="36073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5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일과 관계의 균형을 갖춘 최고 엔딩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68796" y="1783080"/>
            <a:ext cx="5253228" cy="1874520"/>
          </a:xfrm>
          <a:prstGeom prst="roundRect">
            <a:avLst>
              <a:gd name="adj" fmla="val 5854"/>
            </a:avLst>
          </a:prstGeom>
          <a:solidFill>
            <a:srgbClr val="EFE8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88836" y="2286000"/>
            <a:ext cx="868680" cy="868680"/>
          </a:xfrm>
          <a:prstGeom prst="ellipse">
            <a:avLst/>
          </a:prstGeom>
          <a:solidFill>
            <a:srgbClr val="9B7CF6"/>
          </a:solidFill>
          <a:ln/>
        </p:spPr>
      </p:sp>
      <p:sp>
        <p:nvSpPr>
          <p:cNvPr id="11" name="Text 9"/>
          <p:cNvSpPr/>
          <p:nvPr/>
        </p:nvSpPr>
        <p:spPr>
          <a:xfrm>
            <a:off x="6688836" y="2286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740396" y="2240280"/>
            <a:ext cx="36073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믿고 맡기는 신입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40396" y="2743200"/>
            <a:ext cx="36073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5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결과와 신뢰 중 하나가 뚜렷한 통과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977640"/>
            <a:ext cx="5253228" cy="1874520"/>
          </a:xfrm>
          <a:prstGeom prst="roundRect">
            <a:avLst>
              <a:gd name="adj" fmla="val 5854"/>
            </a:avLst>
          </a:prstGeom>
          <a:solidFill>
            <a:srgbClr val="E3F2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6968" y="4480560"/>
            <a:ext cx="868680" cy="868680"/>
          </a:xfrm>
          <a:prstGeom prst="ellipse">
            <a:avLst/>
          </a:prstGeom>
          <a:solidFill>
            <a:srgbClr val="5CB8F5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" y="4480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938528" y="4434840"/>
            <a:ext cx="36073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마이웨이 성장형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938528" y="4937760"/>
            <a:ext cx="36073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5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서툴러도 자기 속도로 성장 중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68796" y="3977640"/>
            <a:ext cx="5253228" cy="1874520"/>
          </a:xfrm>
          <a:prstGeom prst="roundRect">
            <a:avLst>
              <a:gd name="adj" fmla="val 5854"/>
            </a:avLst>
          </a:prstGeom>
          <a:solidFill>
            <a:srgbClr val="FFF1DD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88836" y="4480560"/>
            <a:ext cx="868680" cy="868680"/>
          </a:xfrm>
          <a:prstGeom prst="ellipse">
            <a:avLst/>
          </a:prstGeom>
          <a:solidFill>
            <a:srgbClr val="E8942F"/>
          </a:solidFill>
          <a:ln/>
        </p:spPr>
      </p:sp>
      <p:sp>
        <p:nvSpPr>
          <p:cNvPr id="21" name="Text 19"/>
          <p:cNvSpPr/>
          <p:nvPr/>
        </p:nvSpPr>
        <p:spPr>
          <a:xfrm>
            <a:off x="6688836" y="4480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740396" y="4434840"/>
            <a:ext cx="36073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조용한 생존자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40396" y="4937760"/>
            <a:ext cx="36073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5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기본기 보완이 필요한 재도전형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" y="594360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8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우선순위가 고정된 규칙으로 판정 → 같은 결과는 언제나 재현 가능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어떻게 만들었나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가볍고 완결된 프론트엔드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298948" cy="3200400"/>
          </a:xfrm>
          <a:prstGeom prst="roundRect">
            <a:avLst>
              <a:gd name="adj" fmla="val 3429"/>
            </a:avLst>
          </a:prstGeom>
          <a:solidFill>
            <a:srgbClr val="EFE8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1993392"/>
            <a:ext cx="46588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B7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86968" y="2606040"/>
            <a:ext cx="46588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Next.js(App Router) + TypeScript + Tailwind</a:t>
            </a:r>
            <a:endParaRPr lang="en-US" sz="1350" dirty="0"/>
          </a:p>
          <a:p>
            <a:pPr marL="177800" indent="-1778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export → 서버·DB·회원가입 없음</a:t>
            </a:r>
            <a:endParaRPr lang="en-US" sz="1350" dirty="0"/>
          </a:p>
          <a:p>
            <a:pPr marL="177800" indent="-1778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콘텐츠는 로컬 TS 데이터</a:t>
            </a:r>
            <a:endParaRPr lang="en-US" sz="1350" dirty="0"/>
          </a:p>
          <a:p>
            <a:pPr marL="177800" indent="-1778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상태만 localStorage 저장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23076" y="1737360"/>
            <a:ext cx="5298948" cy="3200400"/>
          </a:xfrm>
          <a:prstGeom prst="roundRect">
            <a:avLst>
              <a:gd name="adj" fmla="val 3429"/>
            </a:avLst>
          </a:prstGeom>
          <a:solidFill>
            <a:srgbClr val="E1F5E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43116" y="1993392"/>
            <a:ext cx="46588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B8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교체 가능한 분석 경계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43116" y="2606040"/>
            <a:ext cx="46588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화면은 공통 GameAnalysis 형태만 사용</a:t>
            </a:r>
            <a:endParaRPr lang="en-US" sz="1350" dirty="0"/>
          </a:p>
          <a:p>
            <a:pPr marL="177800" indent="-1778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규칙 기반 localAnalyzer</a:t>
            </a:r>
            <a:endParaRPr lang="en-US" sz="1350" dirty="0"/>
          </a:p>
          <a:p>
            <a:pPr marL="177800" indent="-1778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추후 openAiAnalyzer로 교체(같은 형태)</a:t>
            </a:r>
            <a:endParaRPr lang="en-US" sz="1350" dirty="0"/>
          </a:p>
          <a:p>
            <a:pPr marL="177800" indent="-1778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키는 클라이언트·저장소에 두지 않음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51206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순수 함수로 만든 게임 규칙·엔딩 판정 → UI 없이도 테스트 가능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품질 &amp; 접근성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화면까지, 꼼꼼하게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502152" cy="3108960"/>
          </a:xfrm>
          <a:prstGeom prst="roundRect">
            <a:avLst>
              <a:gd name="adj" fmla="val 3529"/>
            </a:avLst>
          </a:prstGeom>
          <a:solidFill>
            <a:srgbClr val="FFE3EE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9536" y="1975104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우선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77824" y="260604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28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너비 430px 세로형</a:t>
            </a:r>
            <a:endParaRPr lang="en-US" sz="128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28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360px에서도 가로 스크롤 없음</a:t>
            </a:r>
            <a:endParaRPr lang="en-US" sz="128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28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터치 영역 48px 이상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502152" cy="3108960"/>
          </a:xfrm>
          <a:prstGeom prst="roundRect">
            <a:avLst>
              <a:gd name="adj" fmla="val 3529"/>
            </a:avLst>
          </a:prstGeom>
          <a:solidFill>
            <a:srgbClr val="EFE8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36008" y="1975104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9B7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접근성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654296" y="260604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28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키보드 조작·포커스 표시</a:t>
            </a:r>
            <a:endParaRPr lang="en-US" sz="128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28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 외 수치도 함께 표시</a:t>
            </a:r>
            <a:endParaRPr lang="en-US" sz="128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28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스크린리더용 레이블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8119872" y="1737360"/>
            <a:ext cx="3502152" cy="3108960"/>
          </a:xfrm>
          <a:prstGeom prst="roundRect">
            <a:avLst>
              <a:gd name="adj" fmla="val 3529"/>
            </a:avLst>
          </a:prstGeom>
          <a:solidFill>
            <a:srgbClr val="E3F2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0" y="1975104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5CB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안정성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430768" y="260604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28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 변경·손상 저장 복구</a:t>
            </a:r>
            <a:endParaRPr lang="en-US" sz="128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28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차단돼도 플레이 가능</a:t>
            </a:r>
            <a:endParaRPr lang="en-US" sz="128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28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40개·타입·린트·빌드</a:t>
            </a:r>
            <a:endParaRPr lang="en-US" sz="12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· 배포 &amp; 설치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push 한 번이면, 바로 라이브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5836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2148840"/>
            <a:ext cx="5943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6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Actions 자동 배포: push → 테스트·빌드 → GitHub Pages</a:t>
            </a:r>
            <a:endParaRPr lang="en-US" sz="1450" dirty="0"/>
          </a:p>
          <a:p>
            <a:pPr marL="177800" indent="-177800">
              <a:lnSpc>
                <a:spcPct val="106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사이트라 서버 비용 0</a:t>
            </a:r>
            <a:endParaRPr lang="en-US" sz="1450" dirty="0"/>
          </a:p>
          <a:p>
            <a:pPr marL="177800" indent="-177800">
              <a:lnSpc>
                <a:spcPct val="106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PWA: 홈 화면에 앱으로 설치(전체화면)</a:t>
            </a:r>
            <a:endParaRPr lang="en-US" sz="1450" dirty="0"/>
          </a:p>
          <a:p>
            <a:pPr marL="177800" indent="-177800">
              <a:lnSpc>
                <a:spcPct val="106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서비스워커로 오프라인 플레이까지 지원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516368" y="1783080"/>
            <a:ext cx="4105656" cy="3291840"/>
          </a:xfrm>
          <a:prstGeom prst="roundRect">
            <a:avLst>
              <a:gd name="adj" fmla="val 3333"/>
            </a:avLst>
          </a:prstGeom>
          <a:solidFill>
            <a:srgbClr val="EFE8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pic>
        <p:nvPicPr>
          <p:cNvPr id="7" name="Image 0" descr="/tmp/claude-0/-home-user-game-app/f96a5407-abaa-502c-a41a-125d779cf6e0/scratchpad/kimnep-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9076" y="2148840"/>
            <a:ext cx="1920240" cy="1920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99248" y="4206240"/>
            <a:ext cx="3739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7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스캔하고 플레이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99248" y="4526280"/>
            <a:ext cx="3739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imsplendid8.github.io/game-app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· 다음 단계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더 자랄 수 있다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55096" cy="914400"/>
          </a:xfrm>
          <a:prstGeom prst="roundRect">
            <a:avLst>
              <a:gd name="adj" fmla="val 12000"/>
            </a:avLst>
          </a:prstGeom>
          <a:solidFill>
            <a:srgbClr val="EFE8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17830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🎨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55648" y="17830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아트 디렉션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90288" y="1783080"/>
            <a:ext cx="6848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라임·네이비 스티커 톤 + N 안테나 캐릭터 6종 감정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843784"/>
            <a:ext cx="11055096" cy="914400"/>
          </a:xfrm>
          <a:prstGeom prst="roundRect">
            <a:avLst>
              <a:gd name="adj" fmla="val 12000"/>
            </a:avLst>
          </a:prstGeom>
          <a:solidFill>
            <a:srgbClr val="E3F2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86968" y="2843784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755648" y="2843784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코치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0288" y="2843784"/>
            <a:ext cx="6848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기반 분석을 openAiAnalyzer로 교체(같은 인터페이스)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904488"/>
            <a:ext cx="11055096" cy="914400"/>
          </a:xfrm>
          <a:prstGeom prst="roundRect">
            <a:avLst>
              <a:gd name="adj" fmla="val 12000"/>
            </a:avLst>
          </a:prstGeom>
          <a:solidFill>
            <a:srgbClr val="EFE8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86968" y="3904488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55648" y="390448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확장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0288" y="3904488"/>
            <a:ext cx="6848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에피소드·엔딩 추가, 난이도/테마 세트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965192"/>
            <a:ext cx="11055096" cy="914400"/>
          </a:xfrm>
          <a:prstGeom prst="roundRect">
            <a:avLst>
              <a:gd name="adj" fmla="val 12000"/>
            </a:avLst>
          </a:prstGeom>
          <a:solidFill>
            <a:srgbClr val="E3F2FF"/>
          </a:solidFill>
          <a:ln w="12700">
            <a:solidFill>
              <a:srgbClr val="EFE6F4"/>
            </a:solidFill>
            <a:prstDash val="solid"/>
          </a:ln>
          <a:effectLst>
            <a:outerShdw sx="100000" sy="100000" kx="0" ky="0" algn="bl" rotWithShape="0" blurRad="127000" dist="38100" dir="5400000">
              <a:srgbClr val="9B7CF6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86968" y="4965192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55648" y="4965192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4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공유·기록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90288" y="4965192"/>
            <a:ext cx="6848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카드 공유, 가벼운 랭킹(후순위)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1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657600"/>
            <a:ext cx="5029200" cy="5029200"/>
          </a:xfrm>
          <a:prstGeom prst="ellipse">
            <a:avLst/>
          </a:prstGeom>
          <a:solidFill>
            <a:srgbClr val="3A2C5A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" y="2011680"/>
            <a:ext cx="2743200" cy="274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35000"/>
              </a:srgbClr>
            </a:outerShdw>
          </a:effectLst>
        </p:spPr>
      </p:sp>
      <p:pic>
        <p:nvPicPr>
          <p:cNvPr id="4" name="Image 0" descr="/home/user/game-app/public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121408"/>
            <a:ext cx="2523744" cy="2523744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0" y="21488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지금, 김넵을 수습 통과시켜 주세요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160520" y="2971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D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5분 · 무설치 · 모바일 웹</a:t>
            </a:r>
            <a:endParaRPr lang="en-US" sz="1500" dirty="0"/>
          </a:p>
        </p:txBody>
      </p:sp>
      <p:pic>
        <p:nvPicPr>
          <p:cNvPr id="7" name="Image 1" descr="/tmp/claude-0/-home-user-game-app/f96a5407-abaa-502c-a41a-125d779cf6e0/scratchpad/kimnep-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3474720"/>
            <a:ext cx="1371600" cy="1371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15000" y="3977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B8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imsplendid8.github.io/game-app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2026-08-06T07:34:35Z</dcterms:created>
  <dcterms:modified xsi:type="dcterms:W3CDTF">2026-08-06T07:34:35Z</dcterms:modified>
</cp:coreProperties>
</file>